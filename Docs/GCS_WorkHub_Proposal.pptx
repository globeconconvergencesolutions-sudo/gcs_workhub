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60920" y="1051560"/>
            <a:ext cx="3886200" cy="960120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60920" y="2212848"/>
            <a:ext cx="1828800" cy="1965960"/>
          </a:xfrm>
          <a:prstGeom prst="roundRect">
            <a:avLst/>
          </a:prstGeom>
          <a:solidFill>
            <a:srgbClr val="20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2212848"/>
            <a:ext cx="1828800" cy="1965960"/>
          </a:xfrm>
          <a:prstGeom prst="roundRect">
            <a:avLst/>
          </a:prstGeom>
          <a:solidFill>
            <a:srgbClr val="1A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4462272"/>
            <a:ext cx="3886200" cy="594360"/>
          </a:xfrm>
          <a:prstGeom prst="round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325880"/>
            <a:ext cx="32461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572768"/>
            <a:ext cx="32461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2606040"/>
            <a:ext cx="1005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907792"/>
            <a:ext cx="64008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209544"/>
            <a:ext cx="1234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260604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2640" y="2907792"/>
            <a:ext cx="114300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209544"/>
            <a:ext cx="5943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143000"/>
            <a:ext cx="5943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GCS WorkHub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BFD3EB"/>
                </a:solidFill>
                <a:latin typeface="Aptos"/>
              </a:rPr>
              <a:t>Work, Workload &amp; Performance Management Platform</a:t>
            </a:r>
          </a:p>
          <a:p>
            <a:pPr>
              <a:spcBef>
                <a:spcPts val="2200"/>
              </a:spcBef>
            </a:pPr>
            <a:r>
              <a:rPr sz="1300">
                <a:solidFill>
                  <a:srgbClr val="AABED6"/>
                </a:solidFill>
                <a:latin typeface="Aptos"/>
              </a:rPr>
              <a:t>A proposal for a centralized operating layer for Globecon Convergence Solutions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029200"/>
            <a:ext cx="1417320" cy="310896"/>
          </a:xfrm>
          <a:prstGeom prst="roundRect">
            <a:avLst/>
          </a:prstGeom>
          <a:solidFill>
            <a:srgbClr val="19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D2F0"/>
                </a:solidFill>
                <a:latin typeface="Aptos"/>
              </a:rPr>
              <a:t>EMPLOYEES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5029200"/>
            <a:ext cx="1554480" cy="310896"/>
          </a:xfrm>
          <a:prstGeom prst="roundRect">
            <a:avLst/>
          </a:prstGeom>
          <a:solidFill>
            <a:srgbClr val="19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D2F0"/>
                </a:solidFill>
                <a:latin typeface="Aptos"/>
              </a:rPr>
              <a:t>DEPARTMENTS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5029200"/>
            <a:ext cx="1417320" cy="310896"/>
          </a:xfrm>
          <a:prstGeom prst="roundRect">
            <a:avLst/>
          </a:prstGeom>
          <a:solidFill>
            <a:srgbClr val="19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D2F0"/>
                </a:solidFill>
                <a:latin typeface="Aptos"/>
              </a:rPr>
              <a:t>PROJECTS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9552" y="5029200"/>
            <a:ext cx="1417320" cy="310896"/>
          </a:xfrm>
          <a:prstGeom prst="roundRect">
            <a:avLst/>
          </a:prstGeom>
          <a:solidFill>
            <a:srgbClr val="19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D2F0"/>
                </a:solidFill>
                <a:latin typeface="Aptos"/>
              </a:rPr>
              <a:t>EXECUTIVES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Concept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Move from fragmented activity tracking to one operational source of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4297680"/>
          </a:xfrm>
          <a:prstGeom prst="roundRect">
            <a:avLst/>
          </a:prstGeom>
          <a:solidFill>
            <a:srgbClr val="FCEBE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Today’s common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10896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Tasks live across email, chats, spreadsheets and people’s memory.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Deadlines can be visible to the assignee but invisible to management.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Workload is difficult to compare across people and departments.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Management often receives status after a problem has already occurred.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29768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429768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What GCS WorkHub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10896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Every important responsibility and task has an owner, timeline and status.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Departments become visible operating units rather than isolated teams.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Blockers, dependencies and approvals become trackable events.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Management gets early warning instead of late explanations.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4297680"/>
          </a:xfrm>
          <a:prstGeom prst="roundRect">
            <a:avLst/>
          </a:prstGeom>
          <a:solidFill>
            <a:srgbClr val="E9F7EE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429768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84248"/>
            <a:ext cx="310896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Clear accountability without relying on manual follow-up.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Better workload distribution and prioritization.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Faster escalation of overdue or blocked work.</a:t>
            </a:r>
          </a:p>
          <a:p>
            <a:pPr>
              <a:spcAft>
                <a:spcPts val="800"/>
              </a:spcAft>
              <a:defRPr sz="1150">
                <a:solidFill>
                  <a:srgbClr val="273242"/>
                </a:solidFill>
                <a:latin typeface="Aptos"/>
              </a:defRPr>
            </a:pPr>
            <a:r>
              <a:t>• A foundation for automation, analytics and future AI.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A single operating layer connecting people, work, projects, departments and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468880"/>
            <a:ext cx="2743200" cy="960120"/>
          </a:xfrm>
          <a:prstGeom prst="roundRect">
            <a:avLst/>
          </a:prstGeom>
          <a:solidFill>
            <a:srgbClr val="0B182C"/>
          </a:solidFill>
          <a:ln w="17780">
            <a:solidFill>
              <a:srgbClr val="0B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82C"/>
                </a:solidFill>
                <a:latin typeface="Aptos"/>
              </a:rPr>
              <a:t>GCS WORKHUB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18872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1920240"/>
            <a:ext cx="4251960" cy="150876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05156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Responsibilities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0" y="1783080"/>
            <a:ext cx="777240" cy="164592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118872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Projects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80760" y="1920240"/>
            <a:ext cx="3246120" cy="150876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434340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Departments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3429000"/>
            <a:ext cx="4251960" cy="91440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9120" y="457200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Workload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303520" y="3429000"/>
            <a:ext cx="777240" cy="114300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0" y="4343400"/>
            <a:ext cx="182880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Management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080760" y="3429000"/>
            <a:ext cx="3246120" cy="914400"/>
          </a:xfrm>
          <a:prstGeom prst="line">
            <a:avLst/>
          </a:prstGeom>
          <a:ln w="1524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3840480"/>
            <a:ext cx="1623060" cy="310896"/>
          </a:xfrm>
          <a:prstGeom prst="roundRect">
            <a:avLst/>
          </a:prstGeom>
          <a:solidFill>
            <a:srgbClr val="E6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A9482"/>
                </a:solidFill>
                <a:latin typeface="Aptos"/>
              </a:rPr>
              <a:t>ONE SOURCE OF TRUTH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How work flows through GCS WorkHub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system follows the real lifecycle of work — from responsibility to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11680" cy="914400"/>
          </a:xfrm>
          <a:prstGeom prst="roundRect">
            <a:avLst/>
          </a:prstGeom>
          <a:solidFill>
            <a:srgbClr val="0B182C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01
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73242"/>
                </a:solidFill>
                <a:latin typeface="Aptos"/>
              </a:rPr>
              <a:t>Responsibility / task is created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286000"/>
            <a:ext cx="384048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4368" y="1828800"/>
            <a:ext cx="2011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02
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9718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73242"/>
                </a:solidFill>
                <a:latin typeface="Aptos"/>
              </a:rPr>
              <a:t>Owner, priority, effort &amp; deadline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6048" y="2286000"/>
            <a:ext cx="384048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48656" y="1828800"/>
            <a:ext cx="2011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03
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29718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73242"/>
                </a:solidFill>
                <a:latin typeface="Aptos"/>
              </a:rPr>
              <a:t>Work progresses; blockers are captured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0336" y="2286000"/>
            <a:ext cx="384047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52944" y="1828800"/>
            <a:ext cx="2011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04
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9718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73242"/>
                </a:solidFill>
                <a:latin typeface="Aptos"/>
              </a:rPr>
              <a:t>Approval or evidence where required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64624" y="2286000"/>
            <a:ext cx="384048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57232" y="1828800"/>
            <a:ext cx="2011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05
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97180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73242"/>
                </a:solidFill>
                <a:latin typeface="Aptos"/>
              </a:rPr>
              <a:t>Completed work feeds reports &amp; KPIs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09160"/>
            <a:ext cx="9966960" cy="100584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709160"/>
            <a:ext cx="73152" cy="1005840"/>
          </a:xfrm>
          <a:prstGeom prst="rect">
            <a:avLst/>
          </a:prstGeom>
          <a:solidFill>
            <a:srgbClr val="20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873752"/>
            <a:ext cx="9555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Design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76088"/>
            <a:ext cx="9555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The system should make the next action obvious: who owns the work, what is expected, when it is due, what is blocking it, and what happens next.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Employee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Give every person one place to see, plan and report their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6492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92240" cy="59436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My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1005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067BE"/>
                </a:solidFill>
                <a:latin typeface="Aptos Display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98648"/>
            <a:ext cx="1060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214884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313432"/>
            <a:ext cx="1005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E8A030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898648"/>
            <a:ext cx="1060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Due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77056" y="214884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6" y="2313432"/>
            <a:ext cx="1005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D04646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898648"/>
            <a:ext cx="1060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Overdue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58384" y="214884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2313432"/>
            <a:ext cx="1005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9E5E"/>
                </a:solidFill>
                <a:latin typeface="Aptos Display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898648"/>
            <a:ext cx="1060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566160"/>
            <a:ext cx="5897880" cy="566928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694176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73242"/>
                </a:solidFill>
                <a:latin typeface="Aptos"/>
              </a:rPr>
              <a:t>Update company website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694176"/>
            <a:ext cx="777240" cy="310896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8A030"/>
                </a:solidFill>
                <a:latin typeface="Aptos"/>
              </a:rP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3694176"/>
            <a:ext cx="7772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E91"/>
                </a:solidFill>
                <a:latin typeface="Aptos"/>
              </a:rPr>
              <a:t>12 Aug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3694176"/>
            <a:ext cx="914400" cy="310896"/>
          </a:xfrm>
          <a:prstGeom prst="roundRect">
            <a:avLst/>
          </a:prstGeom>
          <a:solidFill>
            <a:srgbClr val="E9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9E5E"/>
                </a:solidFill>
                <a:latin typeface="Aptos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24528"/>
            <a:ext cx="5897880" cy="566928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352544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73242"/>
                </a:solidFill>
                <a:latin typeface="Aptos"/>
              </a:rPr>
              <a:t>Prepare client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4352544"/>
            <a:ext cx="77724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Medium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352544"/>
            <a:ext cx="7772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E91"/>
                </a:solidFill>
                <a:latin typeface="Aptos"/>
              </a:rPr>
              <a:t>14 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4352544"/>
            <a:ext cx="91440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Not Started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82896"/>
            <a:ext cx="5897880" cy="566928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501091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73242"/>
                </a:solidFill>
                <a:latin typeface="Aptos"/>
              </a:rPr>
              <a:t>Configure 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5010912"/>
            <a:ext cx="777240" cy="310896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D04646"/>
                </a:solidFill>
                <a:latin typeface="Aptos"/>
              </a:rPr>
              <a:t>Critical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5010912"/>
            <a:ext cx="7772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E91"/>
                </a:solidFill>
                <a:latin typeface="Aptos"/>
              </a:rPr>
              <a:t>13 Aug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5010912"/>
            <a:ext cx="914400" cy="310896"/>
          </a:xfrm>
          <a:prstGeom prst="roundRect">
            <a:avLst/>
          </a:prstGeom>
          <a:solidFill>
            <a:srgbClr val="E9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9E5E"/>
                </a:solidFill>
                <a:latin typeface="Aptos"/>
              </a:rPr>
              <a:t>In Progress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41264"/>
            <a:ext cx="5897880" cy="566928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669279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73242"/>
                </a:solidFill>
                <a:latin typeface="Aptos"/>
              </a:rPr>
              <a:t>Monthly analytics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77639" y="5669279"/>
            <a:ext cx="77724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5669279"/>
            <a:ext cx="7772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E91"/>
                </a:solidFill>
                <a:latin typeface="Aptos"/>
              </a:rPr>
              <a:t>15 Aug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5669279"/>
            <a:ext cx="914400" cy="310896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8A030"/>
                </a:solidFill>
                <a:latin typeface="Aptos"/>
              </a:rPr>
              <a:t>Waiting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325880"/>
            <a:ext cx="4069080" cy="214884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52360" y="1325880"/>
            <a:ext cx="73152" cy="214884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14904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Each task can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1892807"/>
            <a:ext cx="365760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Owner • project • client • priority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Start &amp; due dates • estimated effort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Status • blockers • dependencies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Comments • evidence • attachments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3657600"/>
            <a:ext cx="4069080" cy="2148840"/>
          </a:xfrm>
          <a:prstGeom prst="roundRect">
            <a:avLst/>
          </a:prstGeom>
          <a:solidFill>
            <a:srgbClr val="E9F7EE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3657600"/>
            <a:ext cx="73152" cy="214884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3822191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Responsibilities are different from tasks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224528"/>
            <a:ext cx="365760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Responsibilities define what a person owns.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Tasks are the concrete pieces of work.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Recurring responsibilities can generate tasks automatically.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This creates a clearer picture of role + activity.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Department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Department Heads should see the health of the whole team — not just individual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834640" cy="5029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508760"/>
            <a:ext cx="914400" cy="5029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08760"/>
            <a:ext cx="1417320" cy="5029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Due this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508760"/>
            <a:ext cx="1005840" cy="5029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Overdue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508760"/>
            <a:ext cx="1188720" cy="5029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Completion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39112"/>
            <a:ext cx="2834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73242"/>
                </a:solidFill>
                <a:latin typeface="Aptos"/>
              </a:rPr>
              <a:t>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39112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39112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039112"/>
            <a:ext cx="1005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039112"/>
            <a:ext cx="11887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91%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283464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73242"/>
                </a:solidFill>
                <a:latin typeface="Aptos"/>
              </a:rPr>
              <a:t>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697480"/>
            <a:ext cx="91440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97480"/>
            <a:ext cx="141732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2697480"/>
            <a:ext cx="100584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697480"/>
            <a:ext cx="118872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94%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2834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73242"/>
                </a:solidFill>
                <a:latin typeface="Aptos"/>
              </a:rPr>
              <a:t>Marketing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355848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355848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3355848"/>
            <a:ext cx="1005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355848"/>
            <a:ext cx="11887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82%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14216"/>
            <a:ext cx="283464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73242"/>
                </a:solidFill>
                <a:latin typeface="Aptos"/>
              </a:rPr>
              <a:t>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014216"/>
            <a:ext cx="91440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014216"/>
            <a:ext cx="141732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4014216"/>
            <a:ext cx="100584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4014216"/>
            <a:ext cx="1188720" cy="594360"/>
          </a:xfrm>
          <a:prstGeom prst="rect">
            <a:avLst/>
          </a:prstGeom>
          <a:solidFill>
            <a:srgbClr val="F6F8F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73242"/>
                </a:solidFill>
                <a:latin typeface="Aptos"/>
              </a:rPr>
              <a:t>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417320"/>
            <a:ext cx="3886200" cy="164592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1417320"/>
            <a:ext cx="73152" cy="164592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15819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Department Head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1984248"/>
            <a:ext cx="34747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Team workload • task health • deadlines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Projects • approvals • blockers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3291840"/>
            <a:ext cx="3886200" cy="2148840"/>
          </a:xfrm>
          <a:prstGeom prst="roundRect">
            <a:avLst/>
          </a:prstGeom>
          <a:solidFill>
            <a:srgbClr val="FDF5E2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3291840"/>
            <a:ext cx="73152" cy="2148840"/>
          </a:xfrm>
          <a:prstGeom prst="rect">
            <a:avLst/>
          </a:prstGeom>
          <a:solidFill>
            <a:srgbClr val="E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345643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Drill-down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858768"/>
            <a:ext cx="34747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Department → employee → project → task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See why work is late, not just that it is late.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Reassign work or escalate directly.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The MD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MD should be able to understand the company in minutes — then drill down when action is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067BE"/>
                </a:solidFill>
                <a:latin typeface="Aptos Display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75688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Active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149047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D04646"/>
                </a:solidFill>
                <a:latin typeface="Aptos Display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75688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Overdue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2664" y="149047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E8A030"/>
                </a:solidFill>
                <a:latin typeface="Aptos Display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075688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5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5" y="149047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A9482"/>
                </a:solidFill>
                <a:latin typeface="Aptos Display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3" y="2075688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Active projects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149047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D04646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5" y="2075688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Overloaded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88920"/>
            <a:ext cx="3703320" cy="3063240"/>
          </a:xfrm>
          <a:prstGeom prst="roundRect">
            <a:avLst/>
          </a:prstGeom>
          <a:solidFill>
            <a:srgbClr val="FCEBE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788920"/>
            <a:ext cx="73152" cy="306324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53512"/>
            <a:ext cx="3291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⚠ Attention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55848"/>
            <a:ext cx="3291839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3 overdue high-priority tasks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2 departments below target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1 project behind schedule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4 employees above capacity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2 client deliverables awaiting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788920"/>
            <a:ext cx="6949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999232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Department completion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56616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73242"/>
                </a:solidFill>
                <a:latin typeface="Aptos"/>
              </a:rPr>
              <a:t>Technology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84448"/>
            <a:ext cx="4160520" cy="201168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3584448"/>
            <a:ext cx="3786073" cy="20116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35478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273242"/>
                </a:solidFill>
                <a:latin typeface="Aptos"/>
              </a:rPr>
              <a:t>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005072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73242"/>
                </a:solidFill>
                <a:latin typeface="Aptos"/>
              </a:rPr>
              <a:t>Operations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023359"/>
            <a:ext cx="4160520" cy="201168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023359"/>
            <a:ext cx="3910888" cy="201168"/>
          </a:xfrm>
          <a:prstGeom prst="round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398678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273242"/>
                </a:solidFill>
                <a:latin typeface="Aptos"/>
              </a:rPr>
              <a:t>94%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443983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73242"/>
                </a:solidFill>
                <a:latin typeface="Aptos"/>
              </a:rPr>
              <a:t>Marketing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462271"/>
            <a:ext cx="4160520" cy="201168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4462271"/>
            <a:ext cx="3411626" cy="201168"/>
          </a:xfrm>
          <a:prstGeom prst="roundRect">
            <a:avLst/>
          </a:prstGeom>
          <a:solidFill>
            <a:srgbClr val="E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44256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273242"/>
                </a:solidFill>
                <a:latin typeface="Aptos"/>
              </a:rPr>
              <a:t>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88289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73242"/>
                </a:solidFill>
                <a:latin typeface="Aptos"/>
              </a:rPr>
              <a:t>Finance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01183"/>
            <a:ext cx="4160520" cy="201168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4901183"/>
            <a:ext cx="4160520" cy="201168"/>
          </a:xfrm>
          <a:prstGeom prst="roundRect">
            <a:avLst/>
          </a:prstGeom>
          <a:solidFill>
            <a:srgbClr val="1A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0" y="48646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273242"/>
                </a:solidFill>
                <a:latin typeface="Aptos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3218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73242"/>
                </a:solidFill>
                <a:latin typeface="Aptos"/>
              </a:rPr>
              <a:t>Business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340096"/>
            <a:ext cx="4160520" cy="201168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0" y="5340096"/>
            <a:ext cx="3161995" cy="201168"/>
          </a:xfrm>
          <a:prstGeom prst="round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98480" y="5303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273242"/>
                </a:solidFill>
                <a:latin typeface="Aptos"/>
              </a:rPr>
              <a:t>76%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Workload &amp; capacity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goal is not to count tasks — it is to understand whether the work is realistically achievable.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2148840" cy="868680"/>
          </a:xfrm>
          <a:prstGeom prst="roundRect">
            <a:avLst/>
          </a:prstGeom>
          <a:solidFill>
            <a:srgbClr val="E9F7EE"/>
          </a:solidFill>
          <a:ln w="17780"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AVAILABLE
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148840" cy="868680"/>
          </a:xfrm>
          <a:prstGeom prst="roundRect">
            <a:avLst/>
          </a:prstGeom>
          <a:solidFill>
            <a:srgbClr val="E8F2FD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PLANNED
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508760"/>
            <a:ext cx="2148840" cy="868680"/>
          </a:xfrm>
          <a:prstGeom prst="roundRect">
            <a:avLst/>
          </a:prstGeom>
          <a:solidFill>
            <a:srgbClr val="FDF5E2"/>
          </a:solidFill>
          <a:ln w="17780">
            <a:solidFill>
              <a:srgbClr val="E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GAP / SURPLUS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938528"/>
            <a:ext cx="411480" cy="0"/>
          </a:xfrm>
          <a:prstGeom prst="line">
            <a:avLst/>
          </a:prstGeom>
          <a:ln w="2032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1938528"/>
            <a:ext cx="411480" cy="0"/>
          </a:xfrm>
          <a:prstGeom prst="line">
            <a:avLst/>
          </a:prstGeom>
          <a:ln w="2032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508760"/>
            <a:ext cx="2560320" cy="868680"/>
          </a:xfrm>
          <a:prstGeom prst="roundRect">
            <a:avLst/>
          </a:prstGeom>
          <a:solidFill>
            <a:srgbClr val="FCEBEB"/>
          </a:solidFill>
          <a:ln w="17780">
            <a:solidFill>
              <a:srgbClr val="D0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82C"/>
                </a:solidFill>
                <a:latin typeface="Aptos"/>
              </a:rPr>
              <a:t>MANAGEMENT
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1938528"/>
            <a:ext cx="457200" cy="0"/>
          </a:xfrm>
          <a:prstGeom prst="line">
            <a:avLst/>
          </a:prstGeom>
          <a:ln w="20320">
            <a:solidFill>
              <a:srgbClr val="D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880360"/>
            <a:ext cx="50749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73152" cy="260604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449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Example: employee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47288"/>
            <a:ext cx="466344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Available this week: 32 hours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Assigned estimated effort: 46 hours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Capacity gap: 14 hours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System flags the person as overloaded</a:t>
            </a:r>
          </a:p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Manager can reassign, reprioritize or adjust deadlines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0749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Weekly workload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840480"/>
            <a:ext cx="4160520" cy="3200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3840480"/>
            <a:ext cx="4160520" cy="320040"/>
          </a:xfrm>
          <a:prstGeom prst="round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86514" y="3730752"/>
            <a:ext cx="22860" cy="54864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15968"/>
            <a:ext cx="4160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73242"/>
                </a:solidFill>
                <a:latin typeface="Aptos"/>
              </a:rPr>
              <a:t>32h capacity  |  46h planned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892040"/>
            <a:ext cx="1508760" cy="310896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D04646"/>
                </a:solidFill>
                <a:latin typeface="Aptos"/>
              </a:rPr>
              <a:t>OVERLOADED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Projects, dependencies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Tasks should roll up into projects so management can see progress, risk and downstream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659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606040"/>
            <a:ext cx="1280160" cy="310896"/>
          </a:xfrm>
          <a:prstGeom prst="roundRect">
            <a:avLst/>
          </a:prstGeom>
          <a:solidFill>
            <a:srgbClr val="E9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9E5E"/>
                </a:solidFill>
                <a:latin typeface="Aptos"/>
              </a:rPr>
              <a:t>Done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11680"/>
            <a:ext cx="365759" cy="0"/>
          </a:xfrm>
          <a:prstGeom prst="line">
            <a:avLst/>
          </a:prstGeom>
          <a:ln w="16510">
            <a:solidFill>
              <a:srgbClr val="2F9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1554480"/>
            <a:ext cx="19659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2606040"/>
            <a:ext cx="1280160" cy="310896"/>
          </a:xfrm>
          <a:prstGeom prst="roundRect">
            <a:avLst/>
          </a:prstGeom>
          <a:solidFill>
            <a:srgbClr val="E9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9E5E"/>
                </a:solidFill>
                <a:latin typeface="Aptos"/>
              </a:rPr>
              <a:t>Done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2011680"/>
            <a:ext cx="365761" cy="0"/>
          </a:xfrm>
          <a:prstGeom prst="line">
            <a:avLst/>
          </a:prstGeom>
          <a:ln w="16510">
            <a:solidFill>
              <a:srgbClr val="2F9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554480"/>
            <a:ext cx="19659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2606040"/>
            <a:ext cx="128016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In progress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2011680"/>
            <a:ext cx="365761" cy="0"/>
          </a:xfrm>
          <a:prstGeom prst="line">
            <a:avLst/>
          </a:prstGeom>
          <a:ln w="1651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1554480"/>
            <a:ext cx="19659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2606040"/>
            <a:ext cx="1280160" cy="310896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8A030"/>
                </a:solidFill>
                <a:latin typeface="Aptos"/>
              </a:rPr>
              <a:t>Waiting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55480" y="2011680"/>
            <a:ext cx="365760" cy="0"/>
          </a:xfrm>
          <a:prstGeom prst="line">
            <a:avLst/>
          </a:prstGeom>
          <a:ln w="16510">
            <a:solidFill>
              <a:srgbClr val="E8A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1554480"/>
            <a:ext cx="19659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7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22992" y="2606040"/>
            <a:ext cx="1280160" cy="310896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E91"/>
                </a:solidFill>
                <a:latin typeface="Aptos"/>
              </a:rPr>
              <a:t>Not started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5120640" cy="2331720"/>
          </a:xfrm>
          <a:prstGeom prst="roundRect">
            <a:avLst/>
          </a:prstGeom>
          <a:solidFill>
            <a:srgbClr val="FDF5E2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73152" cy="2331720"/>
          </a:xfrm>
          <a:prstGeom prst="rect">
            <a:avLst/>
          </a:prstGeom>
          <a:solidFill>
            <a:srgbClr val="E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410712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Dependencies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13048"/>
            <a:ext cx="4709159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Task B can depend on Task A.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If A slips, WorkHub surfaces downstream impact.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Dependencies can be internal, client, vendor or technical.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Blockers are tracked separately from employee performance.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246120"/>
            <a:ext cx="5303520" cy="2331720"/>
          </a:xfrm>
          <a:prstGeom prst="roundRect">
            <a:avLst/>
          </a:prstGeom>
          <a:solidFill>
            <a:srgbClr val="E9F7EE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246120"/>
            <a:ext cx="73152" cy="233172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4107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Deliverables &amp;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13048"/>
            <a:ext cx="48920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Attach reports, documents, screenshots or links.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Some tasks can require approval before closure.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Completion becomes verifiable, not just a status click.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Project completion can roll up from deliverables.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Automation with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tracker remains the source of truth; n8n becomes the automation engine for reminders, escalations and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1051560"/>
          </a:xfrm>
          <a:prstGeom prst="roundRect">
            <a:avLst/>
          </a:prstGeom>
          <a:solidFill>
            <a:srgbClr val="0B182C"/>
          </a:solidFill>
          <a:ln w="17780">
            <a:solidFill>
              <a:srgbClr val="0B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GCS Tracker
Task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350008"/>
            <a:ext cx="274320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07208" y="1828800"/>
            <a:ext cx="196596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Schedule / Trigger
Check deadlines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11496" y="1828800"/>
            <a:ext cx="196596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Decision
Approaching?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7456" y="2350008"/>
            <a:ext cx="274319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15783" y="1828800"/>
            <a:ext cx="196596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Notification
Email / message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81744" y="2350008"/>
            <a:ext cx="274319" cy="0"/>
          </a:xfrm>
          <a:prstGeom prst="line">
            <a:avLst/>
          </a:prstGeom>
          <a:ln w="1905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20072" y="1828800"/>
            <a:ext cx="196596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Log
Record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2743200" cy="201168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73152" cy="201168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8503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7 days 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87368"/>
            <a:ext cx="23317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Friendly reminder to owner.</a:t>
            </a:r>
          </a:p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No escalation.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520440"/>
            <a:ext cx="2743200" cy="2011680"/>
          </a:xfrm>
          <a:prstGeom prst="roundRect">
            <a:avLst/>
          </a:prstGeom>
          <a:solidFill>
            <a:srgbClr val="FDF5E2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3520440"/>
            <a:ext cx="73152" cy="2011680"/>
          </a:xfrm>
          <a:prstGeom prst="rect">
            <a:avLst/>
          </a:prstGeom>
          <a:solidFill>
            <a:srgbClr val="E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68503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3 / 1 day before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087368"/>
            <a:ext cx="23317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Reminder with priority and due date.</a:t>
            </a:r>
          </a:p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Owner can update status or request help.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520440"/>
            <a:ext cx="2743200" cy="2011680"/>
          </a:xfrm>
          <a:prstGeom prst="roundRect">
            <a:avLst/>
          </a:prstGeom>
          <a:solidFill>
            <a:srgbClr val="FCEBE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3520440"/>
            <a:ext cx="73152" cy="201168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68503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Overdue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087368"/>
            <a:ext cx="23317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Notify owner.</a:t>
            </a:r>
          </a:p>
          <a:p>
            <a:pPr>
              <a:spcAft>
                <a:spcPts val="800"/>
              </a:spcAft>
              <a:defRPr sz="1050">
                <a:solidFill>
                  <a:srgbClr val="273242"/>
                </a:solidFill>
                <a:latin typeface="Aptos"/>
              </a:defRPr>
            </a:pPr>
            <a:r>
              <a:t>• Escalate according to rules.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520440"/>
            <a:ext cx="1737360" cy="2011680"/>
          </a:xfrm>
          <a:prstGeom prst="roundRect">
            <a:avLst/>
          </a:prstGeom>
          <a:solidFill>
            <a:srgbClr val="FCEBE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3520440"/>
            <a:ext cx="73152" cy="201168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368503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7+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087368"/>
            <a:ext cx="13258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19">
                <a:solidFill>
                  <a:srgbClr val="273242"/>
                </a:solidFill>
                <a:latin typeface="Aptos"/>
              </a:defRPr>
            </a:pPr>
            <a:r>
              <a:t>• Department Head / MD visibility.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n8n can automate scheduled reminders, notifications and workflow-driven email.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9893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07E91"/>
                </a:solidFill>
                <a:latin typeface="Aptos"/>
              </a:rPr>
              <a:t>n8n supports customizable automated reminder workflows.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Management communication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MD and Department Heads should be able to act directly from the work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583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691640"/>
            <a:ext cx="1097280" cy="7315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084831"/>
            <a:ext cx="5303520" cy="7315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450592"/>
            <a:ext cx="5303520" cy="7315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8132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Request update • Task #GCS-1042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73242"/>
                </a:solidFill>
                <a:latin typeface="Aptos"/>
              </a:rPr>
              <a:t>Hello John,
Please provide an update on the current status of this task and confirm the expected completion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892040"/>
            <a:ext cx="137160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SEND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892040"/>
            <a:ext cx="1371600" cy="310896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D04646"/>
                </a:solidFill>
                <a:latin typeface="Aptos"/>
              </a:rPr>
              <a:t>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892040"/>
            <a:ext cx="1371600" cy="310896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8A030"/>
                </a:solidFill>
                <a:latin typeface="Aptos"/>
              </a:rPr>
              <a:t>REQUEST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17320"/>
            <a:ext cx="3794760" cy="196596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417320"/>
            <a:ext cx="73152" cy="196596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5819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Every management action is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984248"/>
            <a:ext cx="33832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Sender • recipient • timestamp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Related task / project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Message type and delivery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611880"/>
            <a:ext cx="3794760" cy="2331720"/>
          </a:xfrm>
          <a:prstGeom prst="roundRect">
            <a:avLst/>
          </a:prstGeom>
          <a:solidFill>
            <a:srgbClr val="E9F7EE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3611880"/>
            <a:ext cx="73152" cy="233172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7764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178808"/>
            <a:ext cx="338328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Communication stays attached to the work.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Follow-ups become searchable and auditable.</a:t>
            </a:r>
          </a:p>
          <a:p>
            <a:pPr>
              <a:spcAft>
                <a:spcPts val="800"/>
              </a:spcAft>
              <a:defRPr sz="1080">
                <a:solidFill>
                  <a:srgbClr val="273242"/>
                </a:solidFill>
                <a:latin typeface="Aptos"/>
              </a:defRPr>
            </a:pPr>
            <a:r>
              <a:t>• Custom emails remain possible alongside automation.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KPIs &amp; performance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Turn activity data into meaningful management signals — without reducing performance to task 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F9E5E"/>
                </a:solidFill>
                <a:latin typeface="Aptos Display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2249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Deadline adherence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158191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067BE"/>
                </a:solidFill>
                <a:latin typeface="Aptos Display"/>
              </a:rPr>
              <a:t>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167128"/>
            <a:ext cx="2249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Project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8191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A9482"/>
                </a:solidFill>
                <a:latin typeface="Aptos Display"/>
              </a:rPr>
              <a:t>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2249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SLA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58191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E8A030"/>
                </a:solidFill>
                <a:latin typeface="Aptos Display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2167128"/>
            <a:ext cx="2249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707E91"/>
                </a:solidFill>
                <a:latin typeface="Aptos"/>
              </a:rPr>
              <a:t>Capacity utilized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5120640" cy="246888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73152" cy="246888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36392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Performance should consider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4709159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Completion rate and deadline adherence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Task priority and complexity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Quality / rework / approvals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Client or project impact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Blockers and dependencies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Department and individual KPIs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971800"/>
            <a:ext cx="5212080" cy="2468880"/>
          </a:xfrm>
          <a:prstGeom prst="roundRect">
            <a:avLst/>
          </a:prstGeom>
          <a:solidFill>
            <a:srgbClr val="FCEBEB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971800"/>
            <a:ext cx="73152" cy="246888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13639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What we should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38728"/>
            <a:ext cx="48006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Ranking people purely by number of tasks.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Treating every overdue item as employee failure.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Using activity volume as a proxy for value.</a:t>
            </a:r>
          </a:p>
          <a:p>
            <a:pPr>
              <a:spcAft>
                <a:spcPts val="800"/>
              </a:spcAft>
              <a:defRPr sz="1070">
                <a:solidFill>
                  <a:srgbClr val="273242"/>
                </a:solidFill>
                <a:latin typeface="Aptos"/>
              </a:defRPr>
            </a:pPr>
            <a:r>
              <a:t>• Ignoring external blockers or dependencies.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Reference point: modern work-management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These examples illustrate the type of visibility GCS WorkHub can bring together — while remaining tailored to GCS.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pic>
        <p:nvPicPr>
          <p:cNvPr id="6" name="Picture 5" descr="cli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49240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325880"/>
            <a:ext cx="5349240" cy="3154680"/>
          </a:xfrm>
          <a:prstGeom prst="rect">
            <a:avLst/>
          </a:prstGeom>
          <a:noFill/>
          <a:ln w="1270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ntt_work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4924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325880"/>
            <a:ext cx="5349240" cy="3154680"/>
          </a:xfrm>
          <a:prstGeom prst="rect">
            <a:avLst/>
          </a:prstGeom>
          <a:noFill/>
          <a:ln w="1270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day_work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617720"/>
            <a:ext cx="6675120" cy="132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0" y="4617720"/>
            <a:ext cx="6675120" cy="1325880"/>
          </a:xfrm>
          <a:prstGeom prst="rect">
            <a:avLst/>
          </a:prstGeom>
          <a:noFill/>
          <a:ln w="12700"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553712"/>
            <a:ext cx="182880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067BE"/>
                </a:solidFill>
                <a:latin typeface="Aptos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553712"/>
            <a:ext cx="1645920" cy="310896"/>
          </a:xfrm>
          <a:prstGeom prst="roundRect">
            <a:avLst/>
          </a:prstGeom>
          <a:solidFill>
            <a:srgbClr val="E9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9E5E"/>
                </a:solidFill>
                <a:latin typeface="Aptos"/>
              </a:rPr>
              <a:t>WORKLOAD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5925312"/>
            <a:ext cx="2926080" cy="310896"/>
          </a:xfrm>
          <a:prstGeom prst="roundRect">
            <a:avLst/>
          </a:prstGeom>
          <a:solidFill>
            <a:srgbClr val="FD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8A030"/>
                </a:solidFill>
                <a:latin typeface="Aptos"/>
              </a:rPr>
              <a:t>CAPACITY / RESOURCE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3620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707E91"/>
                </a:solidFill>
                <a:latin typeface="Aptos"/>
              </a:rPr>
              <a:t>Illustrative interface references: ClickUp, GanttPRO and monday.com resource-management 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Proposed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Keep the core system modular so automation, analytics and future integrations can evolve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25880"/>
            <a:ext cx="10149840" cy="731520"/>
          </a:xfrm>
          <a:prstGeom prst="roundRect">
            <a:avLst/>
          </a:prstGeom>
          <a:solidFill>
            <a:srgbClr val="E8F2FD"/>
          </a:solidFill>
          <a:ln w="1524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53895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067BE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4475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73242"/>
                </a:solidFill>
                <a:latin typeface="Aptos"/>
              </a:rPr>
              <a:t>Employees • Department Heads • MD • Admin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057400"/>
            <a:ext cx="0" cy="182880"/>
          </a:xfrm>
          <a:prstGeom prst="line">
            <a:avLst/>
          </a:prstGeom>
          <a:ln w="1397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40" y="2286000"/>
            <a:ext cx="101498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1401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067BE"/>
                </a:solidFill>
                <a:latin typeface="Aptos"/>
              </a:rPr>
              <a:t>GCS WORKHUB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0487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73242"/>
                </a:solidFill>
                <a:latin typeface="Aptos"/>
              </a:rPr>
              <a:t>Web app • tasks • projects • responsibilities • approvals • dashboards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017520"/>
            <a:ext cx="0" cy="182880"/>
          </a:xfrm>
          <a:prstGeom prst="line">
            <a:avLst/>
          </a:prstGeom>
          <a:ln w="1397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3246120"/>
            <a:ext cx="10149840" cy="731520"/>
          </a:xfrm>
          <a:prstGeom prst="roundRect">
            <a:avLst/>
          </a:prstGeom>
          <a:solidFill>
            <a:srgbClr val="E6F7F8"/>
          </a:solidFill>
          <a:ln w="15240">
            <a:solidFill>
              <a:srgbClr val="1A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3741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9482"/>
                </a:solidFill>
                <a:latin typeface="Aptos"/>
              </a:rPr>
              <a:t>GCS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64991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73242"/>
                </a:solidFill>
                <a:latin typeface="Aptos"/>
              </a:rPr>
              <a:t>Users • departments • tasks • projects • clients • KPIs • audit logs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977639"/>
            <a:ext cx="0" cy="182881"/>
          </a:xfrm>
          <a:prstGeom prst="line">
            <a:avLst/>
          </a:prstGeom>
          <a:ln w="13970">
            <a:solidFill>
              <a:srgbClr val="1A9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" y="4206240"/>
            <a:ext cx="10149840" cy="731520"/>
          </a:xfrm>
          <a:prstGeom prst="roundRect">
            <a:avLst/>
          </a:prstGeom>
          <a:solidFill>
            <a:srgbClr val="FDF5E2"/>
          </a:solidFill>
          <a:ln w="15240">
            <a:solidFill>
              <a:srgbClr val="E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34255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A030"/>
                </a:solidFill>
                <a:latin typeface="Aptos"/>
              </a:rP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2511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73242"/>
                </a:solidFill>
                <a:latin typeface="Aptos"/>
              </a:rPr>
              <a:t>n8n • email alerts • escalations • scheduled reports • integrations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166359"/>
            <a:ext cx="10149840" cy="731520"/>
          </a:xfrm>
          <a:prstGeom prst="roundRect">
            <a:avLst/>
          </a:prstGeom>
          <a:solidFill>
            <a:srgbClr val="E9F7EE"/>
          </a:solidFill>
          <a:ln w="15240"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294375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F9E5E"/>
                </a:solidFill>
                <a:latin typeface="Aptos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285231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73242"/>
                </a:solidFill>
                <a:latin typeface="Aptos"/>
              </a:rPr>
              <a:t>Power BI • management reporting • trends • workload • performance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Beyond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The platform can become a broader GCS operations layer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96012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Client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Separate internal vs client work; connect projects to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960120"/>
          </a:xfrm>
          <a:prstGeom prst="rect">
            <a:avLst/>
          </a:prstGeom>
          <a:solidFill>
            <a:srgbClr val="1A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SLA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Measure response and resolution times against commitments.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60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60320"/>
            <a:ext cx="73152" cy="960120"/>
          </a:xfrm>
          <a:prstGeom prst="rect">
            <a:avLst/>
          </a:prstGeom>
          <a:solidFill>
            <a:srgbClr val="2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249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Bring meetings, deadlines, milestones and availability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73152" cy="960120"/>
          </a:xfrm>
          <a:prstGeom prst="rect">
            <a:avLst/>
          </a:prstGeom>
          <a:solidFill>
            <a:srgbClr val="E8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249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Leave /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Adjust workload capacity when people are unavailable.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49039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49039"/>
            <a:ext cx="73152" cy="960120"/>
          </a:xfrm>
          <a:prstGeom prst="rect">
            <a:avLst/>
          </a:prstGeom>
          <a:solidFill>
            <a:srgbClr val="D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1363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1596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Formal review flows for reports, deliverables, finance and deployments.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73152" cy="960120"/>
          </a:xfrm>
          <a:prstGeom prst="rect">
            <a:avLst/>
          </a:prstGeom>
          <a:solidFill>
            <a:srgbClr val="20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91363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AI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1596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Ask management questions in natural language and generate summaries.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37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937760"/>
            <a:ext cx="73152" cy="96012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Resource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0468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Understand who has capacity and where resources are constrained.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37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73152" cy="960120"/>
          </a:xfrm>
          <a:prstGeom prst="rect">
            <a:avLst/>
          </a:prstGeom>
          <a:solidFill>
            <a:srgbClr val="1A9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10235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82C"/>
                </a:solidFill>
                <a:latin typeface="Aptos Display"/>
              </a:rPr>
              <a:t>Project profitability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0468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69">
                <a:solidFill>
                  <a:srgbClr val="273242"/>
                </a:solidFill>
                <a:latin typeface="Aptos"/>
              </a:defRPr>
            </a:pPr>
            <a:r>
              <a:t>• Combine effort and costs with project/client revenue where appropriate.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Recommended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Start small, prove adoption, then add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103120" cy="1005840"/>
          </a:xfrm>
          <a:prstGeom prst="roundRect">
            <a:avLst/>
          </a:prstGeom>
          <a:solidFill>
            <a:srgbClr val="2067BE"/>
          </a:solidFill>
          <a:ln w="17780"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PHASE 1
CORE WORKHUB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73242"/>
                </a:solidFill>
                <a:latin typeface="Aptos"/>
              </a:rPr>
              <a:t>Users • departments • tasks • responsibilities • projects • dashboards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148840"/>
            <a:ext cx="320040" cy="0"/>
          </a:xfrm>
          <a:prstGeom prst="line">
            <a:avLst/>
          </a:prstGeom>
          <a:ln w="16510">
            <a:solidFill>
              <a:srgbClr val="20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1645920"/>
            <a:ext cx="2103120" cy="1005840"/>
          </a:xfrm>
          <a:prstGeom prst="roundRect">
            <a:avLst/>
          </a:prstGeom>
          <a:solidFill>
            <a:srgbClr val="E8A030"/>
          </a:solidFill>
          <a:ln w="17780">
            <a:solidFill>
              <a:srgbClr val="E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PHASE 2
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3464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73242"/>
                </a:solidFill>
                <a:latin typeface="Aptos"/>
              </a:rPr>
              <a:t>n8n reminders • escalation • management requests • weekly reports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2148840"/>
            <a:ext cx="320040" cy="0"/>
          </a:xfrm>
          <a:prstGeom prst="line">
            <a:avLst/>
          </a:prstGeom>
          <a:ln w="16510">
            <a:solidFill>
              <a:srgbClr val="E8A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1645920"/>
            <a:ext cx="2103120" cy="1005840"/>
          </a:xfrm>
          <a:prstGeom prst="roundRect">
            <a:avLst/>
          </a:prstGeom>
          <a:solidFill>
            <a:srgbClr val="1A9482"/>
          </a:solidFill>
          <a:ln w="17780">
            <a:solidFill>
              <a:srgbClr val="1A9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PHASE 3
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4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73242"/>
                </a:solidFill>
                <a:latin typeface="Aptos"/>
              </a:rPr>
              <a:t>Workload • capacity • KPIs • SLA • Power BI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59" y="2148840"/>
            <a:ext cx="320041" cy="0"/>
          </a:xfrm>
          <a:prstGeom prst="line">
            <a:avLst/>
          </a:prstGeom>
          <a:ln w="16510">
            <a:solidFill>
              <a:srgbClr val="1A9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645920"/>
            <a:ext cx="2103120" cy="1005840"/>
          </a:xfrm>
          <a:prstGeom prst="roundRect">
            <a:avLst/>
          </a:prstGeom>
          <a:solidFill>
            <a:srgbClr val="2F9E5E"/>
          </a:solidFill>
          <a:ln w="17780"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PHASE 4
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3464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73242"/>
                </a:solidFill>
                <a:latin typeface="Aptos"/>
              </a:rPr>
              <a:t>Calendar • approvals • client work • resource / cost tracking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59" y="2148840"/>
            <a:ext cx="320041" cy="0"/>
          </a:xfrm>
          <a:prstGeom prst="line">
            <a:avLst/>
          </a:prstGeom>
          <a:ln w="16510">
            <a:solidFill>
              <a:srgbClr val="2F9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92640" y="1645920"/>
            <a:ext cx="2103120" cy="1005840"/>
          </a:xfrm>
          <a:prstGeom prst="roundRect">
            <a:avLst/>
          </a:prstGeom>
          <a:solidFill>
            <a:srgbClr val="0B182C"/>
          </a:solidFill>
          <a:ln w="17780">
            <a:solidFill>
              <a:srgbClr val="0B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82C"/>
                </a:solidFill>
                <a:latin typeface="Aptos"/>
              </a:rPr>
              <a:t>PHASE 5
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73242"/>
                </a:solidFill>
                <a:latin typeface="Aptos"/>
              </a:rPr>
              <a:t>Natural-language insights • summaries • risk signals •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09160"/>
            <a:ext cx="10241280" cy="91440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709160"/>
            <a:ext cx="73152" cy="91440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73752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Recommended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76088"/>
            <a:ext cx="98298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73242"/>
                </a:solidFill>
                <a:latin typeface="Aptos"/>
              </a:defRPr>
            </a:pPr>
            <a:r>
              <a:t>• Do not build every feature at once. Build the operational backbone first, then use real usage data to decide what should come next.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BED2E8"/>
                </a:solidFill>
                <a:latin typeface="Aptos"/>
              </a:rPr>
              <a:t>Every important piece of work has an owner, a deadline, a status, a reason when blocked, and a clear path to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246888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0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67BE"/>
                </a:solidFill>
                <a:latin typeface="Aptos Display"/>
              </a:rPr>
              <a:t>VISIBILITY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FFFFFF"/>
                </a:solidFill>
                <a:latin typeface="Aptos"/>
              </a:rPr>
              <a:t>Know what is happening.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971800"/>
            <a:ext cx="246888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0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A6BE"/>
                </a:solidFill>
                <a:latin typeface="Aptos Display"/>
              </a:rPr>
              <a:t>ACCOUNTABILITY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FFFFFF"/>
                </a:solidFill>
                <a:latin typeface="Aptos"/>
              </a:rPr>
              <a:t>Know who owns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2971800"/>
            <a:ext cx="246888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E8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A030"/>
                </a:solidFill>
                <a:latin typeface="Aptos Display"/>
              </a:rPr>
              <a:t>AUTOMATION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FFFFFF"/>
                </a:solidFill>
                <a:latin typeface="Aptos"/>
              </a:rPr>
              <a:t>Follow up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971800"/>
            <a:ext cx="246888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F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9E5E"/>
                </a:solidFill>
                <a:latin typeface="Aptos Display"/>
              </a:rPr>
              <a:t>INTELLIGENCE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FFFFFF"/>
                </a:solidFill>
                <a:latin typeface="Aptos"/>
              </a:rPr>
              <a:t>Know where to 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16636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Proposed next step: approve the blueprint → define requirements → build the Phase 1 prototype.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182C"/>
                </a:solidFill>
                <a:latin typeface="Aptos Display"/>
              </a:rPr>
              <a:t>Appendix: proposed core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707E91"/>
                </a:solidFill>
                <a:latin typeface="Aptos"/>
              </a:rPr>
              <a:t>A foundation designed to support the first release and future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320040"/>
            <a:ext cx="685800" cy="384048"/>
          </a:xfrm>
          <a:prstGeom prst="round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Users  </a:t>
            </a:r>
            <a:r>
              <a:rPr sz="950">
                <a:solidFill>
                  <a:srgbClr val="707E91"/>
                </a:solidFill>
                <a:latin typeface="Aptos"/>
              </a:rPr>
              <a:t>identity • role • department •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Departments  </a:t>
            </a:r>
            <a:r>
              <a:rPr sz="950">
                <a:solidFill>
                  <a:srgbClr val="707E91"/>
                </a:solidFill>
                <a:latin typeface="Aptos"/>
              </a:rPr>
              <a:t>name • head • KPIs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Responsibilities  </a:t>
            </a:r>
            <a:r>
              <a:rPr sz="950">
                <a:solidFill>
                  <a:srgbClr val="707E91"/>
                </a:solidFill>
                <a:latin typeface="Aptos"/>
              </a:rPr>
              <a:t>owner • recurring pattern •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Tasks  </a:t>
            </a:r>
            <a:r>
              <a:rPr sz="950">
                <a:solidFill>
                  <a:srgbClr val="707E91"/>
                </a:solidFill>
                <a:latin typeface="Aptos"/>
              </a:rPr>
              <a:t>owner • project • priority • dates •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Projects  </a:t>
            </a:r>
            <a:r>
              <a:rPr sz="950">
                <a:solidFill>
                  <a:srgbClr val="707E91"/>
                </a:solidFill>
                <a:latin typeface="Aptos"/>
              </a:rPr>
              <a:t>client • milestones • health •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4612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Dependencies  </a:t>
            </a:r>
            <a:r>
              <a:rPr sz="950">
                <a:solidFill>
                  <a:srgbClr val="707E91"/>
                </a:solidFill>
                <a:latin typeface="Aptos"/>
              </a:rPr>
              <a:t>predecessor • successor • blocker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20624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Approvals  </a:t>
            </a:r>
            <a:r>
              <a:rPr sz="950">
                <a:solidFill>
                  <a:srgbClr val="707E91"/>
                </a:solidFill>
                <a:latin typeface="Aptos"/>
              </a:rPr>
              <a:t>reviewer • decision •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20624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Notifications  </a:t>
            </a:r>
            <a:r>
              <a:rPr sz="950">
                <a:solidFill>
                  <a:srgbClr val="707E91"/>
                </a:solidFill>
                <a:latin typeface="Aptos"/>
              </a:rPr>
              <a:t>channel • recipient • delivery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6636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KPIs / SLAs  </a:t>
            </a:r>
            <a:r>
              <a:rPr sz="950">
                <a:solidFill>
                  <a:srgbClr val="707E91"/>
                </a:solidFill>
                <a:latin typeface="Aptos"/>
              </a:rPr>
              <a:t>target • actual • period •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16636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82C"/>
                </a:solidFill>
                <a:latin typeface="Aptos"/>
              </a:rPr>
              <a:t>Audit Logs  </a:t>
            </a:r>
            <a:r>
              <a:rPr sz="950">
                <a:solidFill>
                  <a:srgbClr val="707E91"/>
                </a:solidFill>
                <a:latin typeface="Aptos"/>
              </a:rPr>
              <a:t>who • what changed • when • before/after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486400"/>
            <a:ext cx="8503920" cy="685800"/>
          </a:xfrm>
          <a:prstGeom prst="roundRect">
            <a:avLst/>
          </a:prstGeom>
          <a:solidFill>
            <a:srgbClr val="E8F2FD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5486400"/>
            <a:ext cx="73152" cy="685800"/>
          </a:xfrm>
          <a:prstGeom prst="rect">
            <a:avLst/>
          </a:prstGeom>
          <a:solidFill>
            <a:srgbClr val="2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5650992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82C"/>
                </a:solidFill>
                <a:latin typeface="Aptos Display"/>
              </a:rPr>
              <a:t>Key architecture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6053328"/>
            <a:ext cx="809244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73242"/>
                </a:solidFill>
                <a:latin typeface="Aptos"/>
              </a:defRPr>
            </a:pPr>
            <a:r>
              <a:t>• Keep responsibilities, tasks, projects, notifications and audit history as distinct records so the system can scale cleanly.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E91"/>
                </a:solidFill>
                <a:latin typeface="Aptos"/>
              </a:rPr>
              <a:t>GCS WorkHub • Internal concept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6539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707E9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